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2743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3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132320" y="3200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0292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6858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200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200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0292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6858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6858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50292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96012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96012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96012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14300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14300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32588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1325880"/>
            <a:ext cx="118872" cy="118872"/>
          </a:xfrm>
          <a:prstGeom prst="rect">
            <a:avLst/>
          </a:prstGeom>
          <a:solidFill>
            <a:srgbClr val="3D3733"/>
          </a:solidFill>
          <a:ln w="12700">
            <a:solidFill>
              <a:srgbClr val="3D3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600200"/>
            <a:ext cx="10972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SCAN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"/>
            <a:ext cx="201168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 ·  BIG DATA &amp; AI  ·  2025 –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91440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Barcode</a:t>
            </a:r>
            <a:endParaRPr lang="en-US" sz="5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QR Scanner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502920" y="3090672"/>
            <a:ext cx="3200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×  Natural Language Processing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MohamedTaha EL QASSID  ·  Manal HOUMAIDY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4805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M. Ilias TOUGUI  ·  April 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1463040"/>
            <a:ext cx="1005840" cy="402336"/>
          </a:xfrm>
          <a:prstGeom prst="rect">
            <a:avLst/>
          </a:prstGeom>
          <a:solidFill>
            <a:srgbClr val="2C2825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46304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55280" y="2039112"/>
            <a:ext cx="1005840" cy="402336"/>
          </a:xfrm>
          <a:prstGeom prst="rect">
            <a:avLst/>
          </a:prstGeom>
          <a:solidFill>
            <a:srgbClr val="2C2825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03911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4.8+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55280" y="2615184"/>
            <a:ext cx="1005840" cy="402336"/>
          </a:xfrm>
          <a:prstGeom prst="rect">
            <a:avLst/>
          </a:prstGeom>
          <a:solidFill>
            <a:srgbClr val="2C2825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6151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55280" y="3191256"/>
            <a:ext cx="1005840" cy="402336"/>
          </a:xfrm>
          <a:prstGeom prst="rect">
            <a:avLst/>
          </a:prstGeom>
          <a:solidFill>
            <a:srgbClr val="2C2825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31912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55280" y="3767328"/>
            <a:ext cx="1005840" cy="402336"/>
          </a:xfrm>
          <a:prstGeom prst="rect">
            <a:avLst/>
          </a:prstGeom>
          <a:solidFill>
            <a:srgbClr val="2C2825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37673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libs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914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dirty="0">
                <a:solidFill>
                  <a:srgbClr val="ED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8046720" y="365760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30352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694944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9912" y="274320"/>
            <a:ext cx="3657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256032"/>
            <a:ext cx="182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256032"/>
            <a:ext cx="274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5008" y="411480"/>
            <a:ext cx="182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7888" y="256032"/>
            <a:ext cx="274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47472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65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02920" y="1591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33272" y="1819656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goals &amp; file structure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212848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33272" y="2624328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cascade · 8 preprocessing variants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017520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33272" y="3429000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Deep Dive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· FFT · Canny · Adaptive · CLAHE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822192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33272" y="4233672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3986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1288" y="4261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N-Gram · Open Food Facts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626864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591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5468112" y="1819656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Integration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96128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model · data flow · scan history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212848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468112" y="2624328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96128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outputs · performance metrics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3017520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5468112" y="3429000"/>
            <a:ext cx="54864" cy="54864"/>
          </a:xfrm>
          <a:prstGeom prst="ellipse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96128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· lessons · future work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3822192"/>
            <a:ext cx="4206240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274320"/>
            <a:ext cx="22860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74320"/>
            <a:ext cx="27432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475488"/>
            <a:ext cx="22860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0808" y="274320"/>
            <a:ext cx="27432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502920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667512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832104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48472" y="411480"/>
            <a:ext cx="3657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0040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38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PROJECT OVERVIEW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9494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Does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scanners return a raw string and stop there. This system goes further: it reads the code AND understands what it means.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working together — Computer Vision to see, NLP to understand.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3657600" cy="1645920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08960"/>
            <a:ext cx="50292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barcode: 3017620422003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system's output: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730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→  Nutella (Ferrero)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39502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 Food &amp; Beverage · 95%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41696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 →  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4389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→  chocol, hazelnut, sugar, palm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1325880" cy="201168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96012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4754880" y="18470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Stages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139696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pipeline in scanner.py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36208" y="868680"/>
            <a:ext cx="1325880" cy="201168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36208" y="96012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6236208" y="18470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Preproc. Variants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2139696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in Stage 1 before fallback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17536" y="868680"/>
            <a:ext cx="1325880" cy="201168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17536" y="96012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32" name="Text 30"/>
          <p:cNvSpPr/>
          <p:nvPr/>
        </p:nvSpPr>
        <p:spPr>
          <a:xfrm>
            <a:off x="7717536" y="18470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Stages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08976" y="2139696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Classify · Suggest · Lookup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5295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        ← entry point, UI, webcam loop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92040" y="37581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core/preprocessor.py  ← 4 CV techniques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9867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core/scanner.py  ← 5-stage decode cascade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42153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nlp/analyzer.py  ← TF-IDF · N-Gram · API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4439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data/scan_history.json  ← persisted scans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16459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2743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74320"/>
            <a:ext cx="16459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37160"/>
            <a:ext cx="2743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37160"/>
            <a:ext cx="16459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37160"/>
            <a:ext cx="2743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74320"/>
            <a:ext cx="16459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137160"/>
            <a:ext cx="2743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0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COMPUTER VISION PIPELINE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949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5-Stage Decode Cascade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tries increasingly aggressive strategies. It exits the moment any code is found — so fast images decode instantly, and hard ones still get solved.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1810512"/>
            <a:ext cx="1572768" cy="2514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19019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Preprocessing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1207008" cy="10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FD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gaussian · fft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FD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· adaptive · clahe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FD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· sharpen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56816" y="2880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121408" y="1810512"/>
            <a:ext cx="1572768" cy="251460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21408" y="19019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194560" y="239572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Upscale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  ×3  ×4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04288" y="3108960"/>
            <a:ext cx="1207008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2004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 distant codes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94176" y="2880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858768" y="1810512"/>
            <a:ext cx="1572768" cy="251460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58768" y="19019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931920" y="239572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 180° 270°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41648" y="3108960"/>
            <a:ext cx="1207008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2004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or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upside-down codes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31536" y="2880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596128" y="1810512"/>
            <a:ext cx="1572768" cy="251460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96128" y="19019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69280" y="239572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Sobel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Crop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79008" y="3108960"/>
            <a:ext cx="1207008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2004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localisation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gradient dominance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68896" y="28803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333488" y="1810512"/>
            <a:ext cx="1572768" cy="251460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33488" y="19019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7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406640" y="239572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16368" y="3108960"/>
            <a:ext cx="1207008" cy="10973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32004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images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1500px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4462272"/>
            <a:ext cx="8394192" cy="502920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462272"/>
            <a:ext cx="50292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535424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— when multiple preprocessing variants decode successfully, a Counter picks the most frequent result to suppress false positives.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480560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4480560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76488" y="4636008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480560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320040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484632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649224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2" y="228600"/>
            <a:ext cx="3657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0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PREPROCESSING TECHNIQUES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217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Academic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Techniques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84048" y="1572768"/>
            <a:ext cx="4206240" cy="16916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572768"/>
            <a:ext cx="50292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0976" y="16276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Gaussian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" y="21396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g[i] = exp(−i² / 2σ²)   σ=1.4  k=7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" y="236829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Separable: 2 passes of 7 ops vs 49 for 2D kernel. Smooths noise before decoding.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" y="28072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cv2.filter2D(gray, -1, kernel)   # horizontal</a:t>
            </a:r>
            <a:endParaRPr lang="en-US" sz="7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cv2.filter2D(out,  -1, kernel.T) # vertical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1572768"/>
            <a:ext cx="4206240" cy="16916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572768"/>
            <a:ext cx="50292" cy="1691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13248" y="16276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Band-Pass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1396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G(u,v) = H(u,v) · F(u,v)   then IFFT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36829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Annular mask keeps mid-frequencies (barcode stripes), removes DC background &amp; noise.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56048" y="28072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fshift = np.fft.fftshift(np.fft.fft2(gray))</a:t>
            </a:r>
            <a:endParaRPr lang="en-US" sz="7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np.fft.ifft2(ifftshift(fshift * mask))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84048" y="3401568"/>
            <a:ext cx="4206240" cy="16916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401568"/>
            <a:ext cx="50292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0976" y="34564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Canny Edge +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Morph. Close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" y="39684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T_low = 50,  T_high = 150,  kernel (21×7)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3776" y="419709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highlight bar boundaries. Morphological close connects short bar-edges into blobs.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" y="46360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 = cv2.Canny(blurred, 50, 150)</a:t>
            </a:r>
            <a:endParaRPr lang="en-US" sz="7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= cv2.morphologyEx(edges, MORPH_CLOSE, k)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46320" y="3401568"/>
            <a:ext cx="4206240" cy="16916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401568"/>
            <a:ext cx="50292" cy="169164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7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13248" y="34564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56048" y="39684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T(x,y) = mean(neighbourhood) − C,  C=2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419709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uneven illumination that defeats global Otsu. Each pixel gets its own threshold.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46360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cv2.adaptiveThreshold(blurred, 255,</a:t>
            </a:r>
            <a:endParaRPr lang="en-US" sz="7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8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ADAPTIVE_THRESH_GAUSSIAN_C, THRESH_BINARY, 11, 2)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434840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434840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" y="4590288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4434840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256032"/>
            <a:ext cx="182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56032"/>
            <a:ext cx="274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5088" y="411480"/>
            <a:ext cx="182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256032"/>
            <a:ext cx="274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0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NATURAL LANGUAGE PROCESSING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217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Stages — Built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Scratch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84048" y="1572768"/>
            <a:ext cx="2029968" cy="324612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572768"/>
            <a:ext cx="202996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0020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20848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" y="25420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 →  strip punct  →  tokenise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980944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  →  stem suffixes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3419856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" y="385876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  ·  organ  ·  juic  ·  chocol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1572768"/>
            <a:ext cx="2029968" cy="324612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78608" y="1572768"/>
            <a:ext cx="2029968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160020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88336" y="20848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Classification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88336" y="25420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logic: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88336" y="2980944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Pattern shortcuts (http, wifi) →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88336" y="3419856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product categories → 95%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88336" y="385876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Seed overlap score → 50–100%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1572768"/>
            <a:ext cx="2029968" cy="324612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572768"/>
            <a:ext cx="202996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60020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20848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 Language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82896" y="25420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+ Trigram — both active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2896" y="2980944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smoothing prevents zero probs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3419856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predict_next(['orang','juic'])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82896" y="385876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['vitam', 'sugar', 'natur']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67728" y="1572768"/>
            <a:ext cx="2029968" cy="324612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67728" y="1572768"/>
            <a:ext cx="2029968" cy="45720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160020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77456" y="20848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Food Facts API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77456" y="254203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barcodes only (EAN-13 / UPC-A)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77456" y="2980944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· 4s timeout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77456" y="3419856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name, brand, nutriscore,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77456" y="385876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→ re-runs NLP on rich text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892040"/>
            <a:ext cx="8394192" cy="365760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9377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learns over time — every scan trains both N-gram models and grows the TF-IDF corpus, making suggestions smarter with each use.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097280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61872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426464"/>
            <a:ext cx="822960" cy="36576"/>
          </a:xfrm>
          <a:prstGeom prst="rect">
            <a:avLst/>
          </a:prstGeom>
          <a:solidFill>
            <a:srgbClr val="D6CFC6"/>
          </a:solidFill>
          <a:ln w="12700">
            <a:solidFill>
              <a:srgbClr val="D6CF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22792" y="1005840"/>
            <a:ext cx="3657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987552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987552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1143000"/>
            <a:ext cx="182880" cy="27432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0768" y="987552"/>
            <a:ext cx="27432" cy="18288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0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SYSTEM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2179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Together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84048" y="1645920"/>
            <a:ext cx="2743200" cy="658368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645920"/>
            <a:ext cx="45720" cy="658368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70078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 / Image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19933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2304288"/>
            <a:ext cx="0" cy="256032"/>
          </a:xfrm>
          <a:prstGeom prst="line">
            <a:avLst/>
          </a:prstGeom>
          <a:noFill/>
          <a:ln w="12700">
            <a:solidFill>
              <a:srgbClr val="D6CFC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4048" y="2514600"/>
            <a:ext cx="2743200" cy="658368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514600"/>
            <a:ext cx="45720" cy="65836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5694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Thread  30 FPS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" y="286207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overlay · read cache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37360" y="3172968"/>
            <a:ext cx="0" cy="256032"/>
          </a:xfrm>
          <a:prstGeom prst="line">
            <a:avLst/>
          </a:prstGeom>
          <a:noFill/>
          <a:ln w="12700">
            <a:solidFill>
              <a:srgbClr val="D6CFC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84048" y="3383280"/>
            <a:ext cx="2743200" cy="658368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383280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4381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Buffer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" y="373075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5th frame posted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4041648"/>
            <a:ext cx="0" cy="256032"/>
          </a:xfrm>
          <a:prstGeom prst="line">
            <a:avLst/>
          </a:prstGeom>
          <a:noFill/>
          <a:ln w="12700">
            <a:solidFill>
              <a:srgbClr val="D6CFC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84048" y="4251960"/>
            <a:ext cx="2743200" cy="658368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251960"/>
            <a:ext cx="45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3068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Thread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" y="45994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try_decode_image() daemon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1481328"/>
            <a:ext cx="5120640" cy="82296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0" y="1481328"/>
            <a:ext cx="4572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15361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⟳  Frame Skip Strategy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67328" y="1828800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in every 5 frames decoded. Display always at 30 FPS. Decode at ≈ 6 FPS. Feels instant to the user.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2414016"/>
            <a:ext cx="5120640" cy="82296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0" y="2414016"/>
            <a:ext cx="45720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2468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  Two-Attempt Decode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67328" y="2761488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try raw grayscale (fastest). Only retry with Gaussian blur if raw fails. Avoids wasted computation.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3346704"/>
            <a:ext cx="5120640" cy="82296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0" y="3346704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34015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  Background API Call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67328" y="3694176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lookup runs in a daemon thread with 4s timeout. NLP classifies immediately on raw data.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0" y="4279392"/>
            <a:ext cx="5120640" cy="82296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0" y="4279392"/>
            <a:ext cx="45720" cy="82296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433425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  Scan History Learning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67328" y="4626864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scan trains bigram + trigram and grows TF-IDF corpus. System gets smarter with each session.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256032"/>
            <a:ext cx="18288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56032"/>
            <a:ext cx="27432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76488" y="411480"/>
            <a:ext cx="18288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256032"/>
            <a:ext cx="27432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457200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621792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786384"/>
            <a:ext cx="822960" cy="36576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48472" y="365760"/>
            <a:ext cx="3657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"/>
            <a:ext cx="502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0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 &amp; TESTING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217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Outputs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84048" y="1572768"/>
            <a:ext cx="2743200" cy="32918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572768"/>
            <a:ext cx="2743200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6093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EAN-13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04288" y="1627632"/>
            <a:ext cx="731520" cy="23774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16276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1488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3017620422003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2423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89888" y="24231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Nutella  (Ferrero)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779776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89888" y="27797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 ·  95%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13639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89888" y="313639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49300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389888" y="3493008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 · hazelnut · sugar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4962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89888" y="38496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· oil · nut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62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89888" y="42062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1572768"/>
            <a:ext cx="2743200" cy="32918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1572768"/>
            <a:ext cx="2743200" cy="5120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16093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1627632"/>
            <a:ext cx="731520" cy="23774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16276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9000" y="21488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https://www.example.com/prod…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29000" y="2423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43400" y="24231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Web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29000" y="2779776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43400" y="27797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(pattern match)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29000" y="313639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43400" y="313639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 · product · abc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29000" y="349300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43400" y="3493008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· html · link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29000" y="384962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43400" y="38496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29000" y="42062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Lookup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343400" y="42062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(not numeric)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91072" y="1572768"/>
            <a:ext cx="2743200" cy="3291840"/>
          </a:xfrm>
          <a:prstGeom prst="rect">
            <a:avLst/>
          </a:prstGeom>
          <a:solidFill>
            <a:srgbClr val="F5EFE6"/>
          </a:solidFill>
          <a:ln w="6350">
            <a:solidFill>
              <a:srgbClr val="D6CFC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91072" y="1572768"/>
            <a:ext cx="274320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16093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11312" y="1627632"/>
            <a:ext cx="731520" cy="23774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2" y="16276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82512" y="21488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WIFI:T:WPA;S:Home;P:pass123;…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82512" y="2423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96912" y="24231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Credential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82512" y="2779776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296912" y="27797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(pattern match)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82512" y="313639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296912" y="313639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· wpa · home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82512" y="349300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296912" y="3493008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password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82512" y="384962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296912" y="38496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(first scan)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382512" y="42062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Lookup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296912" y="42062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(not numeric)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84048" y="4892040"/>
            <a:ext cx="1965960" cy="530352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50ms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384048" y="52120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local ops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32888" y="4892040"/>
            <a:ext cx="1965960" cy="530352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32888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380ms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2532888" y="52120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lookup avg.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81728" y="4892040"/>
            <a:ext cx="1965960" cy="530352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81728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FPS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4681728" y="52120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rate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830568" y="4892040"/>
            <a:ext cx="1965960" cy="530352"/>
          </a:xfrm>
          <a:prstGeom prst="rect">
            <a:avLst/>
          </a:prstGeom>
          <a:solidFill>
            <a:srgbClr val="EDE8DF"/>
          </a:solidFill>
          <a:ln w="6350">
            <a:solidFill>
              <a:srgbClr val="D6CF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30568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6830568" y="52120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-45720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164592" y="420624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370832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535424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20624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420624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4370832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4535424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4535424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370832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475488"/>
            <a:ext cx="22860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603504"/>
            <a:ext cx="5029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621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CONCLUSION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02920" y="15819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53619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OpenCV — no external decoder library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0025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95681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cascade · 8 preprocessing variants · all active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37744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academic CV techniques correctly implemented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8437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9806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NLP pipeline built entirely from scratch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644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186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architecture · 30 FPS display · learns over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303520" y="1444752"/>
            <a:ext cx="3566160" cy="566928"/>
          </a:xfrm>
          <a:prstGeom prst="rect">
            <a:avLst/>
          </a:prstGeom>
          <a:solidFill>
            <a:srgbClr val="2C2825"/>
          </a:solidFill>
          <a:ln w="6350">
            <a:solidFill>
              <a:srgbClr val="3A35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4904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Decoder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171907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damaged / partial codes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0" y="2084832"/>
            <a:ext cx="3566160" cy="566928"/>
          </a:xfrm>
          <a:prstGeom prst="rect">
            <a:avLst/>
          </a:prstGeom>
          <a:solidFill>
            <a:srgbClr val="2C2825"/>
          </a:solidFill>
          <a:ln w="6350">
            <a:solidFill>
              <a:srgbClr val="3A35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1305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3591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Streamlit history analytics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2724912"/>
            <a:ext cx="3566160" cy="566928"/>
          </a:xfrm>
          <a:prstGeom prst="rect">
            <a:avLst/>
          </a:prstGeom>
          <a:solidFill>
            <a:srgbClr val="2C2825"/>
          </a:solidFill>
          <a:ln w="6350">
            <a:solidFill>
              <a:srgbClr val="3A35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7706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NLP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299923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+ Arabic label support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3364992"/>
            <a:ext cx="3566160" cy="566928"/>
          </a:xfrm>
          <a:prstGeom prst="rect">
            <a:avLst/>
          </a:prstGeom>
          <a:solidFill>
            <a:srgbClr val="2C2825"/>
          </a:solidFill>
          <a:ln w="6350">
            <a:solidFill>
              <a:srgbClr val="3A35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34107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Porter Stemmer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6393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suffix-strip heuristic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4005072"/>
            <a:ext cx="3566160" cy="566928"/>
          </a:xfrm>
          <a:prstGeom prst="rect">
            <a:avLst/>
          </a:prstGeom>
          <a:solidFill>
            <a:srgbClr val="2C2825"/>
          </a:solidFill>
          <a:ln w="6350">
            <a:solidFill>
              <a:srgbClr val="3A35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4050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42793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product engine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2825"/>
          </a:solidFill>
          <a:ln w="12700">
            <a:solidFill>
              <a:srgbClr val="2C28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MohamedTaha EL QASSID  ·  Manal HOUMAIDY  ·  UIR 2025/2026  ·  Supervised by M. Ilias TOUGUI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QR &amp; Barcode Scanner</dc:title>
  <dc:subject>PptxGenJS Presentation</dc:subject>
  <dc:creator>PptxGenJS</dc:creator>
  <cp:lastModifiedBy>PptxGenJS</cp:lastModifiedBy>
  <cp:revision>1</cp:revision>
  <dcterms:created xsi:type="dcterms:W3CDTF">2026-04-20T02:09:52Z</dcterms:created>
  <dcterms:modified xsi:type="dcterms:W3CDTF">2026-04-20T02:09:52Z</dcterms:modified>
</cp:coreProperties>
</file>